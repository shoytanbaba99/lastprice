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371864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18288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5A880"/>
                </a:solidFill>
              </a:rPr>
              <a:t>LastPrice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69C8E"/>
                </a:solidFill>
              </a:rPr>
              <a:t>Frictionless Silent Auction &amp; Escrow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5486400" cy="237744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A880"/>
                </a:solidFill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Mehedi Hassan Bhuiyan (0432320005101080)
Md. Masud Rahman (0432320005101064)
Hasib Al Mahmud Siddique (0432320005101095)
Rudro Antony Mrong (0432320005101059)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5577840" cy="237744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A880"/>
                </a:solidFill>
              </a:rPr>
              <a:t>Supervised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Dhrubo Barua &amp; Md. Faysal
Faculty Members, Dept. of CSE
University of Information Technology &amp; Sciences
Software Engineering &amp; System Analysis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69C8E"/>
                </a:solidFill>
              </a:rPr>
              <a:t>UITS • CSE Department •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Mehedi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Market Gap &amp; Our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Why we built LastPrice and the hurdles we faced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Mehedi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32004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E5E"/>
                </a:solidFill>
              </a:rPr>
              <a:t>💬 Haggling Fatigue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Traditional marketplaces rely on endless texts, low-ball offers, and uncommitted buyers, causing huge frustration.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32004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E5E"/>
                </a:solidFill>
              </a:rPr>
              <a:t>🛡️ Handover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Physical peer-to-peer meetups provide zero proof of exchange, leaving parties vulnerable to scams.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32004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85E"/>
                </a:solidFill>
              </a:rPr>
              <a:t>⚖️ The Penny-Bid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When we designed the silent auction, buyers just bid $1 incrementally to find the reserve. This broke the system. Our solution? Cap bids to exactly 3 chances.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 Real Scenario: Selling a MacBook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How Display Price and Reserve Price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Masud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5A880"/>
                </a:solidFill>
              </a:rPr>
              <a:t>The Seller's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You want to sell a MacBook Pro.
• You hope to get $1,500 for it.
• But you're willing to accept $1,200 as your absolute minimum.
In LastPrice, you set TWO prices:
1. Display Price ($1,500): What everyone sees on the marketplace.
2. Secret Reserve Price ($1,200): The vault threshold hidden from buyers.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A880"/>
                </a:solidFill>
              </a:rPr>
              <a:t>Why two prices?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It mimics real-life bargaining but automates it.
The buyer thinks they are negotiating down from $1,500, while the seller is guaranteed to never sell below $1,200.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 Real Scenario: The Buyer's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Bidding in the 3-Chance Arena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Masud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5A880"/>
                </a:solidFill>
              </a:rPr>
              <a:t>The Buyer's 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buyer sees the MacBook listed for $1,500. They know they have 3 chances to find the secret reserve.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566160" cy="22860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E5E"/>
                </a:solidFill>
              </a:rPr>
              <a:t>Round 1: The Low-ball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Buyer bids $800.
System says: RED (Cold).
The buyer realizes they need to be serious.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51760"/>
            <a:ext cx="3566160" cy="22860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85E"/>
                </a:solidFill>
              </a:rPr>
              <a:t>Round 2: The Adjustment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Buyer bids $1,100.
System says: YELLOW (Hot!).
They are within 70% of the hidden reserve!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651760"/>
            <a:ext cx="3566160" cy="22860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FFC4"/>
                </a:solidFill>
              </a:rPr>
              <a:t>Round 3: The 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Buyer bids $1,250.
System says: GREEN (Matched!).
The $1,200 floor is breached.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3035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5A880"/>
                </a:solidFill>
              </a:rPr>
              <a:t>Mutual Satisfaction: The buyer feels great for negotiating $250 off the display price. The seller is happy because they got $50 more than their minimum floor without ever replying to a single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Final Step: Escrow &amp; Handover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Securing the physical exchange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Masud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A880"/>
                </a:solidFill>
              </a:rPr>
              <a:t>How it works: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1. Once the bid matches, unique 6-digit cryptographic codes are generated for both parties.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0156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2. They meet up in person to exchange the MacBook.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68496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3. Both parties open the LastPrice portal and enter their respective codes.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535424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4. The system validates both codes instantly, confirming the exchange is genuine and complete.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1663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5EFFC4"/>
                </a:solidFill>
              </a:rPr>
              <a:t>Result: Tamper-proof proof of exchange. No scams. No disputes.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Details: The RGB Feedback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How the Arena calculates and displays 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Hasib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5A880"/>
                </a:solidFill>
              </a:rPr>
              <a:t>The Core Algorithm: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Instead of a simple pass/fail, the system calculates the percentage of the buyer's bid relative to the Secret Reserve Price.
Percentage = (Bid / Reserve Price) *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E5E"/>
                </a:solidFill>
              </a:rPr>
              <a:t>🔴 RED (Cold)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Bid &lt; 70% of Reserve. UI shakes, screen glows red, indicating the bid is significantly too 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017520"/>
            <a:ext cx="5029200" cy="13716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85E"/>
                </a:solidFill>
              </a:rPr>
              <a:t>🟡 YELLOW (Hot)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Bid &gt;= 70% and &lt; 100% of Reserve. UI pulses yellow, indicating the buyer is getting very close.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572000"/>
            <a:ext cx="5029200" cy="13716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FFC4"/>
                </a:solidFill>
              </a:rPr>
              <a:t>🟢 GREEN (Matched)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03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Bid &gt;= 100% of Reserve. Screen flashes green, confetti triggers, and the escrow process initiates.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Platform Walkthrough — Landing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Hasib</a:t>
            </a:r>
          </a:p>
        </p:txBody>
      </p:sp>
      <p:pic>
        <p:nvPicPr>
          <p:cNvPr id="6" name="Picture 5" descr="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398" y="1463040"/>
            <a:ext cx="48241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Platform Walkthrough — Marketplace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Hasib</a:t>
            </a:r>
          </a:p>
        </p:txBody>
      </p:sp>
      <p:pic>
        <p:nvPicPr>
          <p:cNvPr id="6" name="Picture 5" descr="3_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182" y="1463040"/>
            <a:ext cx="493058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Platform Walkthrough — Creating an Auction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Hasib</a:t>
            </a:r>
          </a:p>
        </p:txBody>
      </p:sp>
      <p:pic>
        <p:nvPicPr>
          <p:cNvPr id="6" name="Picture 5" descr="4_create_l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69" y="1463040"/>
            <a:ext cx="310841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Platform Walkthrough — The Bidding Arena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Hasib</a:t>
            </a:r>
          </a:p>
        </p:txBody>
      </p:sp>
      <p:pic>
        <p:nvPicPr>
          <p:cNvPr id="6" name="Picture 5" descr="5_bidding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186" y="1463040"/>
            <a:ext cx="52865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Limitations &amp; What We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Challenges faced during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Rudro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36576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E5E"/>
                </a:solidFill>
              </a:rPr>
              <a:t>⚠️ 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9377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1. Front-End Responsiveness: The UI is currently optimized for desktop; mobile scaling needs further refinement.
2. Real-Time Sync: The countdown timer occasionally desyncs between client and server due to latency.
3. Single-Item Checkout: Escrow currently only supports one item at a time per meeting.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303520" cy="365760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85E"/>
                </a:solidFill>
              </a:rPr>
              <a:t>💡 What We Could Have Done Better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9377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1. WebSockets: We relied heavily on REST polling. We should have used WebSockets for real-time bid updates.
2. User Onboarding: More in-app tooltips explaining the 3-bid rule would prevent initial user confusion.
3. Test Coverage: We should have prioritized automated testing for edge cases in the auction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69C8E"/>
                </a:solidFill>
              </a:rPr>
              <a:t>Where LastPrice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228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92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Rudro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256032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A880"/>
                </a:solidFill>
              </a:rPr>
              <a:t>⚙️ Customizable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Let sellers choose exactly how many bid chances to allow (e.g. 2 to 5), giving them full control over the speed.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256032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A880"/>
                </a:solidFill>
              </a:rPr>
              <a:t>👤 Buyer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Allow sellers to manually pick the winning buyer from the matched pool based on reputation or location.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2560320"/>
          </a:xfrm>
          <a:prstGeom prst="rect">
            <a:avLst/>
          </a:prstGeom>
          <a:solidFill>
            <a:srgbClr val="1A1512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A880"/>
                </a:solidFill>
              </a:rPr>
              <a:t>⭐ Trust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gamified reputation system that awards points to users for every successful verified physical handover.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629" y="274320"/>
            <a:ext cx="1737694" cy="1737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01168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C5A880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69C8E"/>
                </a:solidFill>
              </a:rPr>
              <a:t>LASTPRICE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5A880"/>
                </a:solidFill>
              </a:rPr>
              <a:t>❓ Questions &amp;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5943600"/>
            <a:ext cx="1645920" cy="457200"/>
          </a:xfrm>
          <a:prstGeom prst="rect">
            <a:avLst/>
          </a:prstGeom>
          <a:solidFill>
            <a:srgbClr val="1A1512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6007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A880"/>
                </a:solidFill>
              </a:rPr>
              <a:t>🎤 Rudro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